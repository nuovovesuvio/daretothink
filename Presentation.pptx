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9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08" y="-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Daiwaeurope\homedrives\E-H\FARUQR\Docs\Health\Food&amp;Drink%20Companies%20by%20Tax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Sheet1!$B$5:$B$38</c:f>
              <c:strCache>
                <c:ptCount val="34"/>
                <c:pt idx="0">
                  <c:v>SABMILLER PLC</c:v>
                </c:pt>
                <c:pt idx="1">
                  <c:v>DIAGEO PLC</c:v>
                </c:pt>
                <c:pt idx="2">
                  <c:v>ASSOC BRIT FOODS</c:v>
                </c:pt>
                <c:pt idx="3">
                  <c:v>ROS AGRO-GDR REG</c:v>
                </c:pt>
                <c:pt idx="4">
                  <c:v>COCA-COLA HBC AG</c:v>
                </c:pt>
                <c:pt idx="5">
                  <c:v>AQUATIC FOODS GR</c:v>
                </c:pt>
                <c:pt idx="6">
                  <c:v>NEW BRITAIN PALM</c:v>
                </c:pt>
                <c:pt idx="7">
                  <c:v>TATE &amp; LYLE</c:v>
                </c:pt>
                <c:pt idx="8">
                  <c:v>BRITVIC PLC</c:v>
                </c:pt>
                <c:pt idx="9">
                  <c:v>ANGLO-EAST PLNTS</c:v>
                </c:pt>
                <c:pt idx="10">
                  <c:v>CRANSWICK PLC</c:v>
                </c:pt>
                <c:pt idx="11">
                  <c:v>STOCK SPIRITS GR</c:v>
                </c:pt>
                <c:pt idx="12">
                  <c:v>MHP SA-GDR</c:v>
                </c:pt>
                <c:pt idx="13">
                  <c:v>M P EVANS GROUP</c:v>
                </c:pt>
                <c:pt idx="14">
                  <c:v>BARR (A.G.)</c:v>
                </c:pt>
                <c:pt idx="15">
                  <c:v>HILTON FOOD GROU</c:v>
                </c:pt>
                <c:pt idx="16">
                  <c:v>NICHOLS PLC</c:v>
                </c:pt>
                <c:pt idx="17">
                  <c:v>CARR'S MILLING</c:v>
                </c:pt>
                <c:pt idx="18">
                  <c:v>DEVRO PLC</c:v>
                </c:pt>
                <c:pt idx="19">
                  <c:v>WYNNSTAY GROUP</c:v>
                </c:pt>
                <c:pt idx="20">
                  <c:v>SHEPHERD NEAME</c:v>
                </c:pt>
                <c:pt idx="21">
                  <c:v>PRODUCE INVESTME</c:v>
                </c:pt>
                <c:pt idx="22">
                  <c:v>FINSBURY FOOD GR</c:v>
                </c:pt>
                <c:pt idx="23">
                  <c:v>WALCOM GROUP-D/I</c:v>
                </c:pt>
                <c:pt idx="24">
                  <c:v>PURECIRCLE LTD</c:v>
                </c:pt>
                <c:pt idx="25">
                  <c:v>FEVERTREE DRINKS</c:v>
                </c:pt>
                <c:pt idx="26">
                  <c:v>GREENCORE GROUP</c:v>
                </c:pt>
                <c:pt idx="27">
                  <c:v>DAIRY CREST GRP</c:v>
                </c:pt>
                <c:pt idx="28">
                  <c:v>SORBIC INTERNATI</c:v>
                </c:pt>
                <c:pt idx="29">
                  <c:v>UKRPRODUCT GROUP</c:v>
                </c:pt>
                <c:pt idx="30">
                  <c:v>AVANGARDCO-GDR</c:v>
                </c:pt>
                <c:pt idx="31">
                  <c:v>NARBOROUGH PLTNS</c:v>
                </c:pt>
                <c:pt idx="32">
                  <c:v>HIDONG ESTATE</c:v>
                </c:pt>
                <c:pt idx="33">
                  <c:v>AGRITERRA LTD</c:v>
                </c:pt>
              </c:strCache>
            </c:strRef>
          </c:cat>
          <c:val>
            <c:numRef>
              <c:f>Sheet1!$C$5:$C$38</c:f>
              <c:numCache>
                <c:formatCode>#,##0</c:formatCode>
                <c:ptCount val="34"/>
                <c:pt idx="0">
                  <c:v>1360000000</c:v>
                </c:pt>
                <c:pt idx="1">
                  <c:v>379000000</c:v>
                </c:pt>
                <c:pt idx="2">
                  <c:v>246000000</c:v>
                </c:pt>
                <c:pt idx="3">
                  <c:v>123602000</c:v>
                </c:pt>
                <c:pt idx="4">
                  <c:v>69000000</c:v>
                </c:pt>
                <c:pt idx="5">
                  <c:v>39295000</c:v>
                </c:pt>
                <c:pt idx="6">
                  <c:v>23483000</c:v>
                </c:pt>
                <c:pt idx="7">
                  <c:v>22000000</c:v>
                </c:pt>
                <c:pt idx="8">
                  <c:v>20200000</c:v>
                </c:pt>
                <c:pt idx="9">
                  <c:v>19177000</c:v>
                </c:pt>
                <c:pt idx="10">
                  <c:v>12544000</c:v>
                </c:pt>
                <c:pt idx="11">
                  <c:v>9483000</c:v>
                </c:pt>
                <c:pt idx="12">
                  <c:v>8946000</c:v>
                </c:pt>
                <c:pt idx="13">
                  <c:v>8593000</c:v>
                </c:pt>
                <c:pt idx="14">
                  <c:v>7263000</c:v>
                </c:pt>
                <c:pt idx="15">
                  <c:v>6518000</c:v>
                </c:pt>
                <c:pt idx="16">
                  <c:v>3465000</c:v>
                </c:pt>
                <c:pt idx="17">
                  <c:v>3226000</c:v>
                </c:pt>
                <c:pt idx="18">
                  <c:v>2700000</c:v>
                </c:pt>
                <c:pt idx="19">
                  <c:v>2271000</c:v>
                </c:pt>
                <c:pt idx="20">
                  <c:v>2182000</c:v>
                </c:pt>
                <c:pt idx="21">
                  <c:v>1977000</c:v>
                </c:pt>
                <c:pt idx="22">
                  <c:v>1700000</c:v>
                </c:pt>
                <c:pt idx="23">
                  <c:v>1520772</c:v>
                </c:pt>
                <c:pt idx="24">
                  <c:v>1248000</c:v>
                </c:pt>
                <c:pt idx="25">
                  <c:v>949179</c:v>
                </c:pt>
                <c:pt idx="26">
                  <c:v>400000</c:v>
                </c:pt>
                <c:pt idx="27">
                  <c:v>400000</c:v>
                </c:pt>
                <c:pt idx="28">
                  <c:v>132322</c:v>
                </c:pt>
                <c:pt idx="29">
                  <c:v>128000</c:v>
                </c:pt>
                <c:pt idx="30">
                  <c:v>68000</c:v>
                </c:pt>
                <c:pt idx="31">
                  <c:v>56152</c:v>
                </c:pt>
                <c:pt idx="32">
                  <c:v>53172</c:v>
                </c:pt>
                <c:pt idx="33">
                  <c:v>13000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75F4BD94-C2EA-487E-9A85-192E8A8943B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40463FC-A074-4C7A-B422-9490B8C34C30}" type="datetimeFigureOut">
              <a:rPr lang="en-GB" smtClean="0"/>
              <a:t>16/03/2015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vat-notice-70114-food/vat-notice-70114-food" TargetMode="External"/><Relationship Id="rId2" Type="http://schemas.openxmlformats.org/officeDocument/2006/relationships/hyperlink" Target="#_ftnref1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w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2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 smtClean="0"/>
              <a:t>1</a:t>
            </a:r>
            <a:r>
              <a:rPr lang="en-GB" b="1" dirty="0"/>
              <a:t>. Background Notes</a:t>
            </a:r>
            <a:endParaRPr lang="en-GB" dirty="0"/>
          </a:p>
          <a:p>
            <a:r>
              <a:rPr lang="en-GB" b="1" dirty="0"/>
              <a:t>1.1.What is included in VAT?</a:t>
            </a:r>
            <a:endParaRPr lang="en-GB" dirty="0"/>
          </a:p>
          <a:p>
            <a:r>
              <a:rPr lang="en-GB" b="1" dirty="0"/>
              <a:t>1.2 General Statistics</a:t>
            </a:r>
            <a:endParaRPr lang="en-GB" dirty="0"/>
          </a:p>
          <a:p>
            <a:r>
              <a:rPr lang="en-GB" b="1" dirty="0"/>
              <a:t>2. Tax received from food industry</a:t>
            </a:r>
            <a:endParaRPr lang="en-GB" dirty="0"/>
          </a:p>
          <a:p>
            <a:r>
              <a:rPr lang="en-GB" b="1" dirty="0"/>
              <a:t>2.1 VAT</a:t>
            </a:r>
            <a:endParaRPr lang="en-GB" dirty="0"/>
          </a:p>
          <a:p>
            <a:r>
              <a:rPr lang="en-GB" b="1" dirty="0"/>
              <a:t>2.2 Corporation tax</a:t>
            </a:r>
            <a:endParaRPr lang="en-GB" dirty="0"/>
          </a:p>
          <a:p>
            <a:r>
              <a:rPr lang="en-GB" b="1" dirty="0"/>
              <a:t>2.3 Tax from employment</a:t>
            </a:r>
            <a:endParaRPr lang="en-GB" dirty="0"/>
          </a:p>
          <a:p>
            <a:r>
              <a:rPr lang="en-GB" b="1" dirty="0"/>
              <a:t>3. Tax lost from food industry</a:t>
            </a:r>
            <a:endParaRPr lang="en-GB" dirty="0"/>
          </a:p>
          <a:p>
            <a:r>
              <a:rPr lang="en-GB" b="1" dirty="0"/>
              <a:t>3.1 Tax avoidance / evasion (overseas accounting arrangements)</a:t>
            </a:r>
            <a:endParaRPr lang="en-GB" dirty="0"/>
          </a:p>
          <a:p>
            <a:r>
              <a:rPr lang="en-GB" b="1" dirty="0"/>
              <a:t>3.2 Low wage staff not paying income tax and national insurance</a:t>
            </a:r>
            <a:endParaRPr lang="en-GB" dirty="0"/>
          </a:p>
          <a:p>
            <a:r>
              <a:rPr lang="en-GB" b="1" dirty="0"/>
              <a:t>3.3 Cash based franchises</a:t>
            </a:r>
            <a:endParaRPr lang="en-GB" dirty="0"/>
          </a:p>
          <a:p>
            <a:r>
              <a:rPr lang="en-GB" b="1" dirty="0"/>
              <a:t>3.4 Tax credits to low paid workers</a:t>
            </a:r>
            <a:endParaRPr lang="en-GB" dirty="0"/>
          </a:p>
          <a:p>
            <a:r>
              <a:rPr lang="en-GB" b="1" dirty="0"/>
              <a:t>4. Obesity (tax lost and welfare costs incurred, e.g. through relative non-employment)</a:t>
            </a:r>
            <a:endParaRPr lang="en-GB" dirty="0"/>
          </a:p>
          <a:p>
            <a:r>
              <a:rPr lang="en-GB" b="1" dirty="0"/>
              <a:t>4.1 Overall costs</a:t>
            </a:r>
            <a:endParaRPr lang="en-GB" dirty="0"/>
          </a:p>
          <a:p>
            <a:r>
              <a:rPr lang="en-GB" b="1" dirty="0"/>
              <a:t>4.2 Detailed estimation of costs</a:t>
            </a:r>
            <a:endParaRPr lang="en-GB" dirty="0"/>
          </a:p>
          <a:p>
            <a:r>
              <a:rPr lang="en-GB" b="1" dirty="0"/>
              <a:t>4.3 Fat tax, pros</a:t>
            </a:r>
            <a:endParaRPr lang="en-GB" dirty="0"/>
          </a:p>
          <a:p>
            <a:r>
              <a:rPr lang="en-GB" b="1" dirty="0"/>
              <a:t>4.4 Fat tax, cons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199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counts towards VAT?</a:t>
            </a:r>
            <a:endParaRPr lang="en-GB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650460"/>
              </p:ext>
            </p:extLst>
          </p:nvPr>
        </p:nvGraphicFramePr>
        <p:xfrm>
          <a:off x="1139314" y="2132856"/>
          <a:ext cx="6339909" cy="2970252"/>
        </p:xfrm>
        <a:graphic>
          <a:graphicData uri="http://schemas.openxmlformats.org/drawingml/2006/table">
            <a:tbl>
              <a:tblPr firstRow="1" firstCol="1" bandRow="1"/>
              <a:tblGrid>
                <a:gridCol w="6339909"/>
              </a:tblGrid>
              <a:tr h="4099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Standard-rate (20%)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Ice cream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Confectionary, apart from some cakes &amp; biscuits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Potato-based or cereal-swelling snacks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Alcoholic beverages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Other beverages (e.g. juice)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Products for home brewing &amp; wine making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2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rgbClr val="366091"/>
                          </a:solidFill>
                          <a:effectLst/>
                          <a:latin typeface="Calibri"/>
                        </a:rPr>
                        <a:t>Catering products</a:t>
                      </a:r>
                    </a:p>
                  </a:txBody>
                  <a:tcPr marL="157812" marR="15781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043608" y="5419667"/>
            <a:ext cx="1346448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sng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alibri" pitchFamily="34" charset="0"/>
                <a:hlinkClick r:id="rId2"/>
              </a:rPr>
              <a:t>[</a:t>
            </a:r>
            <a:r>
              <a:rPr kumimoji="0" lang="en-GB" altLang="en-US" sz="1100" b="0" i="0" u="sng" strike="noStrike" cap="none" normalizeH="0" baseline="3000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alibri" pitchFamily="34" charset="0"/>
                <a:hlinkClick r:id="rId2"/>
              </a:rPr>
              <a:t>1]</a:t>
            </a:r>
            <a:r>
              <a:rPr kumimoji="0" lang="en-GB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Calibri" pitchFamily="34" charset="0"/>
                <a:cs typeface="Calibri" pitchFamily="34" charset="0"/>
              </a:rPr>
              <a:t> ONS VAT Notice: </a:t>
            </a:r>
            <a:r>
              <a:rPr kumimoji="0" lang="en-GB" altLang="en-US" sz="1000" b="0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Calibri" pitchFamily="34" charset="0"/>
                <a:cs typeface="Calibri" pitchFamily="34" charset="0"/>
                <a:hlinkClick r:id="rId3"/>
              </a:rPr>
              <a:t>https://www.gov.uk/government/publications/vat-notice-70114-food/vat-notice-70114-food</a:t>
            </a:r>
            <a:endParaRPr kumimoji="0" lang="en-GB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552" y="1233626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the UK, most food is VAT zero-rated. But the exceptions are often unhealthy food:</a:t>
            </a:r>
          </a:p>
        </p:txBody>
      </p:sp>
    </p:spTree>
    <p:extLst>
      <p:ext uri="{BB962C8B-B14F-4D97-AF65-F5344CB8AC3E}">
        <p14:creationId xmlns:p14="http://schemas.microsoft.com/office/powerpoint/2010/main" val="253545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Food &amp; Drink Industry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SIC 03: Fishing and </a:t>
            </a:r>
            <a:r>
              <a:rPr lang="en-GB" dirty="0" smtClean="0"/>
              <a:t>aquaculture</a:t>
            </a:r>
          </a:p>
          <a:p>
            <a:r>
              <a:rPr lang="en-GB" dirty="0"/>
              <a:t>SIC 10: Manufacture of food </a:t>
            </a:r>
            <a:r>
              <a:rPr lang="en-GB" dirty="0" smtClean="0"/>
              <a:t>products</a:t>
            </a:r>
          </a:p>
          <a:p>
            <a:r>
              <a:rPr lang="en-GB" dirty="0"/>
              <a:t>SIC 11: Manufacture of </a:t>
            </a:r>
            <a:r>
              <a:rPr lang="en-GB" dirty="0" smtClean="0"/>
              <a:t>beverages</a:t>
            </a:r>
          </a:p>
          <a:p>
            <a:pPr marL="114300" indent="0">
              <a:buNone/>
            </a:pPr>
            <a:endParaRPr lang="en-GB" dirty="0" smtClean="0"/>
          </a:p>
          <a:p>
            <a:r>
              <a:rPr lang="en-GB" dirty="0" smtClean="0"/>
              <a:t>Excludes </a:t>
            </a:r>
            <a:r>
              <a:rPr lang="en-GB" dirty="0"/>
              <a:t>SIC 56: Food and beverage service </a:t>
            </a:r>
            <a:r>
              <a:rPr lang="en-GB" dirty="0" smtClean="0"/>
              <a:t>activities</a:t>
            </a:r>
          </a:p>
          <a:p>
            <a:r>
              <a:rPr lang="en-GB" dirty="0" smtClean="0"/>
              <a:t>Excludes </a:t>
            </a:r>
            <a:r>
              <a:rPr lang="en-GB" dirty="0"/>
              <a:t>SIC </a:t>
            </a:r>
            <a:r>
              <a:rPr lang="en-GB" dirty="0" smtClean="0"/>
              <a:t>46.36: </a:t>
            </a:r>
            <a:r>
              <a:rPr lang="en-GB" dirty="0"/>
              <a:t>Wholesale of sugar and chocolate and sugar confectionery </a:t>
            </a:r>
            <a:endParaRPr lang="en-GB" dirty="0" smtClean="0"/>
          </a:p>
          <a:p>
            <a:r>
              <a:rPr lang="en-GB" dirty="0"/>
              <a:t>Excludes </a:t>
            </a:r>
            <a:r>
              <a:rPr lang="en-GB" dirty="0" smtClean="0"/>
              <a:t>SIC 47.24: </a:t>
            </a:r>
            <a:r>
              <a:rPr lang="en-GB" dirty="0"/>
              <a:t>Retail sale of bread, cakes, flour confectionery and sugar confectionery in specialised stores 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383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Headline Economic Figures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385789"/>
              </p:ext>
            </p:extLst>
          </p:nvPr>
        </p:nvGraphicFramePr>
        <p:xfrm>
          <a:off x="323528" y="1340768"/>
          <a:ext cx="7724088" cy="457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7348"/>
                <a:gridCol w="1287348"/>
                <a:gridCol w="1287348"/>
                <a:gridCol w="1287348"/>
                <a:gridCol w="1287348"/>
                <a:gridCol w="1287348"/>
              </a:tblGrid>
              <a:tr h="8928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Figure 2.1: Total Food &amp; Drink Industry 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 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 marL="121759" marR="121759" marT="60879" marB="60879"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 marL="121759" marR="121759" marT="60879" marB="60879"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 marL="121759" marR="121759" marT="60879" marB="60879"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 marL="121759" marR="121759" marT="60879" marB="60879"/>
                </a:tc>
              </a:tr>
              <a:tr h="6696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SIC’07 Industry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Number of enterprises (th)  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Total turnover (£m)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Total employment (th)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Total employment costs (£th)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 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</a:tr>
              <a:tr h="6696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03 Fishing and aquaculture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3,814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1,746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9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130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 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</a:tr>
              <a:tr h="89289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10 Manufacture of food products 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6,889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77,602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368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9,739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 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</a:tr>
              <a:tr h="6696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11 Manufacture of beverages 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1,339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17,765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44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1,902</a:t>
                      </a:r>
                      <a:endParaRPr lang="en-GB" sz="150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 </a:t>
                      </a:r>
                      <a:endParaRPr lang="en-GB" sz="150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7238" marR="97238" marT="0" marB="0"/>
                </a:tc>
              </a:tr>
              <a:tr h="6696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Total Food &amp; Drink Industry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12,042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97,113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421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11,771</a:t>
                      </a:r>
                      <a:endParaRPr lang="en-GB" sz="150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 </a:t>
                      </a:r>
                      <a:endParaRPr lang="en-GB" sz="1500" dirty="0">
                        <a:solidFill>
                          <a:srgbClr val="366091"/>
                        </a:solidFill>
                        <a:effectLst/>
                        <a:latin typeface="Calibri"/>
                      </a:endParaRPr>
                    </a:p>
                  </a:txBody>
                  <a:tcPr marL="97238" marR="97238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9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Measuring Tax </a:t>
            </a:r>
            <a:r>
              <a:rPr lang="en-GB" dirty="0" err="1" smtClean="0"/>
              <a:t>Recieved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u="sng" dirty="0" smtClean="0"/>
              <a:t>Turnover</a:t>
            </a:r>
          </a:p>
          <a:p>
            <a:pPr marL="114300" indent="0">
              <a:buNone/>
            </a:pPr>
            <a:endParaRPr lang="en-GB" u="sng" dirty="0"/>
          </a:p>
          <a:p>
            <a:r>
              <a:rPr lang="en-GB" dirty="0" smtClean="0"/>
              <a:t>Food &amp; Drink Industry: £97.113bn</a:t>
            </a:r>
          </a:p>
          <a:p>
            <a:r>
              <a:rPr lang="en-GB" dirty="0" smtClean="0"/>
              <a:t>Wider Food &amp; Drink Industry (incl. unhealthy food): £319.043bn</a:t>
            </a:r>
          </a:p>
          <a:p>
            <a:r>
              <a:rPr lang="en-GB" dirty="0" smtClean="0"/>
              <a:t>Just Unhealthy Food Industry: £9.66bn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406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Tax </a:t>
            </a:r>
            <a:r>
              <a:rPr lang="en-GB" dirty="0" err="1"/>
              <a:t>Recieved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r>
              <a:rPr lang="en-GB" dirty="0" smtClean="0"/>
              <a:t>Using ONS Annual Business Survey (data for 2013)</a:t>
            </a:r>
          </a:p>
          <a:p>
            <a:pPr marL="114300" indent="0">
              <a:buNone/>
            </a:pPr>
            <a:endParaRPr lang="en-GB" u="sng" dirty="0"/>
          </a:p>
          <a:p>
            <a:pPr marL="114300" indent="0">
              <a:buNone/>
            </a:pPr>
            <a:r>
              <a:rPr lang="en-GB" u="sng" dirty="0" smtClean="0"/>
              <a:t>VAT</a:t>
            </a:r>
          </a:p>
          <a:p>
            <a:pPr marL="114300" indent="0">
              <a:buNone/>
            </a:pPr>
            <a:endParaRPr lang="en-GB" u="sng" dirty="0"/>
          </a:p>
          <a:p>
            <a:r>
              <a:rPr lang="en-GB" dirty="0" smtClean="0"/>
              <a:t>Estimate: 0.2 * £9.66bn (Just unhealthy food industry) = ~ £2bn</a:t>
            </a:r>
          </a:p>
          <a:p>
            <a:r>
              <a:rPr lang="en-GB" dirty="0" smtClean="0"/>
              <a:t>Using VAT receipts data, come to similar estimate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565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Tax </a:t>
            </a:r>
            <a:r>
              <a:rPr lang="en-GB" dirty="0" err="1"/>
              <a:t>Recieved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r>
              <a:rPr lang="en-GB" dirty="0" smtClean="0"/>
              <a:t>Using ONS Annual Business Survey (data for 2013)</a:t>
            </a:r>
          </a:p>
          <a:p>
            <a:pPr marL="114300" indent="0">
              <a:buNone/>
            </a:pPr>
            <a:endParaRPr lang="en-GB" u="sng" dirty="0"/>
          </a:p>
          <a:p>
            <a:pPr marL="114300" indent="0">
              <a:buNone/>
            </a:pPr>
            <a:r>
              <a:rPr lang="en-GB" u="sng" dirty="0" smtClean="0"/>
              <a:t>VAT</a:t>
            </a:r>
          </a:p>
          <a:p>
            <a:pPr marL="114300" indent="0">
              <a:buNone/>
            </a:pPr>
            <a:endParaRPr lang="en-GB" u="sng" dirty="0"/>
          </a:p>
          <a:p>
            <a:r>
              <a:rPr lang="en-GB" dirty="0" smtClean="0"/>
              <a:t>Estimate: 0.2 * £9.66bn (Just unhealthy food industry) = ~ £2bn</a:t>
            </a:r>
          </a:p>
          <a:p>
            <a:r>
              <a:rPr lang="en-GB" dirty="0" smtClean="0"/>
              <a:t>Using VAT receipts data, come to similar estimate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20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Corporation (Income) Tax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Below are figures for net tax payments from the 50 largest Food and Drink companies in the UK, where the total is £2.37bn. </a:t>
            </a:r>
          </a:p>
          <a:p>
            <a:pPr marL="114300" indent="0">
              <a:buNone/>
            </a:pPr>
            <a:endParaRPr lang="en-GB" b="1" dirty="0" smtClean="0"/>
          </a:p>
          <a:p>
            <a:pPr marL="114300" indent="0">
              <a:buNone/>
            </a:pPr>
            <a:endParaRPr lang="en-GB" b="1" dirty="0"/>
          </a:p>
          <a:p>
            <a:pPr marL="114300" indent="0">
              <a:buNone/>
            </a:pPr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dirty="0" smtClean="0"/>
          </a:p>
          <a:p>
            <a:endParaRPr lang="en-GB" dirty="0"/>
          </a:p>
          <a:p>
            <a:pPr marL="114300" indent="0">
              <a:buNone/>
            </a:pPr>
            <a:endParaRPr lang="en-GB" dirty="0"/>
          </a:p>
          <a:p>
            <a:r>
              <a:rPr lang="en-GB" sz="1200" i="1" dirty="0"/>
              <a:t>Source: Bloomberg</a:t>
            </a:r>
            <a:r>
              <a:rPr lang="en-GB" sz="1200" dirty="0"/>
              <a:t>. </a:t>
            </a:r>
            <a:r>
              <a:rPr lang="en-GB" sz="1200" i="1" dirty="0"/>
              <a:t>Figures are actual cash paid for income taxes net of tax refunds</a:t>
            </a:r>
            <a:endParaRPr lang="en-GB" sz="1200" dirty="0"/>
          </a:p>
          <a:p>
            <a:endParaRPr lang="en-GB" dirty="0"/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244888658"/>
              </p:ext>
            </p:extLst>
          </p:nvPr>
        </p:nvGraphicFramePr>
        <p:xfrm>
          <a:off x="395536" y="2492896"/>
          <a:ext cx="7200800" cy="3804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30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Tax </a:t>
            </a:r>
            <a:r>
              <a:rPr lang="en-GB" dirty="0" smtClean="0"/>
              <a:t>Lost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r>
              <a:rPr lang="en-GB" dirty="0"/>
              <a:t>3.1 Tax avoidance / evasion (overseas accounting arrangements)</a:t>
            </a:r>
          </a:p>
          <a:p>
            <a:r>
              <a:rPr lang="en-GB" dirty="0"/>
              <a:t>3.2 Low wage staff not paying income tax and national insurance</a:t>
            </a:r>
          </a:p>
          <a:p>
            <a:r>
              <a:rPr lang="en-GB" dirty="0"/>
              <a:t>3.3 Cash based franchises</a:t>
            </a:r>
          </a:p>
          <a:p>
            <a:r>
              <a:rPr lang="en-GB" dirty="0"/>
              <a:t>3.4 Tax credits to low paid </a:t>
            </a:r>
            <a:r>
              <a:rPr lang="en-GB" dirty="0" smtClean="0"/>
              <a:t>workers</a:t>
            </a:r>
          </a:p>
          <a:p>
            <a:endParaRPr lang="en-GB" dirty="0"/>
          </a:p>
          <a:p>
            <a:pPr marL="114300" indent="0">
              <a:buNone/>
            </a:pPr>
            <a:r>
              <a:rPr lang="en-GB" dirty="0" smtClean="0"/>
              <a:t>Ultimately, difficult to measure by definition, but should be small compared to tax gained?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526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Obesity - costs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r>
              <a:rPr lang="en-GB" dirty="0" smtClean="0"/>
              <a:t>3 ways to measure obesity: mortality, morbidity, money (</a:t>
            </a:r>
            <a:r>
              <a:rPr lang="en-GB" dirty="0" err="1" smtClean="0"/>
              <a:t>Rayner</a:t>
            </a:r>
            <a:r>
              <a:rPr lang="en-GB" dirty="0" smtClean="0"/>
              <a:t> &amp; Scarborough, 2005)</a:t>
            </a:r>
          </a:p>
          <a:p>
            <a:r>
              <a:rPr lang="en-GB" dirty="0" smtClean="0"/>
              <a:t>Responsible for 10% morbidity and mortality in UK</a:t>
            </a:r>
          </a:p>
          <a:p>
            <a:r>
              <a:rPr lang="en-GB" dirty="0" smtClean="0"/>
              <a:t>Costs NHS between £5bn-£6bn depending on which measure/source</a:t>
            </a:r>
          </a:p>
          <a:p>
            <a:r>
              <a:rPr lang="en-GB" dirty="0" smtClean="0"/>
              <a:t>Does not include secondary / social costs</a:t>
            </a:r>
          </a:p>
          <a:p>
            <a:r>
              <a:rPr lang="en-GB" dirty="0" smtClean="0"/>
              <a:t>By 2050 will be costing state £32bn per year (BBC Panorama)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31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Obesity – detailed costs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r>
              <a:rPr lang="en-GB" dirty="0" smtClean="0"/>
              <a:t>Scope for more detailed modelling of costs of obesity. E.g. social cost, tax lost from working less etc.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084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Fat Tax - Pros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3816424"/>
          </a:xfrm>
        </p:spPr>
        <p:txBody>
          <a:bodyPr>
            <a:normAutofit/>
          </a:bodyPr>
          <a:lstStyle/>
          <a:p>
            <a:r>
              <a:rPr lang="en-GB" dirty="0" smtClean="0"/>
              <a:t>20% required to create behaviour change (BMJ, 2012)</a:t>
            </a:r>
          </a:p>
          <a:p>
            <a:r>
              <a:rPr lang="en-GB" dirty="0" smtClean="0"/>
              <a:t>Revenue – low price elasticity benefits revenue</a:t>
            </a:r>
          </a:p>
          <a:p>
            <a:r>
              <a:rPr lang="en-GB" dirty="0" smtClean="0"/>
              <a:t>20% tax could generate between £2bn-£2.5bn on £9.66bn turnover in Unhealthy Food Industry, and this doesn’t take into account catering / takeaways where turnover is £55.6bn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02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Fat Tax - Cons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4680520"/>
          </a:xfrm>
        </p:spPr>
        <p:txBody>
          <a:bodyPr>
            <a:normAutofit/>
          </a:bodyPr>
          <a:lstStyle/>
          <a:p>
            <a:r>
              <a:rPr lang="en-GB" dirty="0" smtClean="0"/>
              <a:t>Traditional economic arguments against tax as a mechanism – inefficient, welfare loss. But this can be measured and </a:t>
            </a:r>
            <a:r>
              <a:rPr lang="en-GB" dirty="0" err="1" smtClean="0"/>
              <a:t>minimzed</a:t>
            </a:r>
            <a:r>
              <a:rPr lang="en-GB" dirty="0" smtClean="0"/>
              <a:t>.</a:t>
            </a:r>
          </a:p>
          <a:p>
            <a:r>
              <a:rPr lang="en-GB" dirty="0" smtClean="0"/>
              <a:t>Due to low price elasticity, may not be effective in inducing behaviour change</a:t>
            </a:r>
          </a:p>
          <a:p>
            <a:r>
              <a:rPr lang="en-GB" dirty="0" smtClean="0"/>
              <a:t>Regressive – could hid poorest 7x as hard assuming no behaviour change (</a:t>
            </a:r>
            <a:r>
              <a:rPr lang="en-GB" dirty="0" err="1" smtClean="0"/>
              <a:t>Leciester</a:t>
            </a:r>
            <a:r>
              <a:rPr lang="en-GB" dirty="0" smtClean="0"/>
              <a:t> &amp; </a:t>
            </a:r>
            <a:r>
              <a:rPr lang="en-GB" dirty="0" err="1" smtClean="0"/>
              <a:t>Windmeijer</a:t>
            </a:r>
            <a:r>
              <a:rPr lang="en-GB" dirty="0" smtClean="0"/>
              <a:t>, 2004)</a:t>
            </a:r>
          </a:p>
          <a:p>
            <a:r>
              <a:rPr lang="en-GB" dirty="0" smtClean="0"/>
              <a:t>But revenues of tax could be used towards subsidies</a:t>
            </a:r>
          </a:p>
          <a:p>
            <a:r>
              <a:rPr lang="en-GB" dirty="0" smtClean="0"/>
              <a:t>Perhaps most damning – research has found increase in obesity not due to increase in unhealthy food consumption </a:t>
            </a:r>
            <a:r>
              <a:rPr lang="en-GB" dirty="0"/>
              <a:t>(</a:t>
            </a:r>
            <a:r>
              <a:rPr lang="en-GB" dirty="0" err="1"/>
              <a:t>Leciester</a:t>
            </a:r>
            <a:r>
              <a:rPr lang="en-GB" dirty="0"/>
              <a:t> &amp; </a:t>
            </a:r>
            <a:r>
              <a:rPr lang="en-GB" dirty="0" err="1"/>
              <a:t>Windmeijer</a:t>
            </a:r>
            <a:r>
              <a:rPr lang="en-GB" dirty="0"/>
              <a:t>, 2004)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47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&amp; moving forwards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6984776" cy="4680520"/>
          </a:xfrm>
        </p:spPr>
        <p:txBody>
          <a:bodyPr>
            <a:normAutofit/>
          </a:bodyPr>
          <a:lstStyle/>
          <a:p>
            <a:r>
              <a:rPr lang="en-GB" dirty="0" smtClean="0"/>
              <a:t>Ideas we can focus on:</a:t>
            </a:r>
          </a:p>
          <a:p>
            <a:pPr lvl="1"/>
            <a:r>
              <a:rPr lang="en-GB" dirty="0" smtClean="0"/>
              <a:t>Fat Tax – but, does this effect change to obesity?</a:t>
            </a:r>
          </a:p>
          <a:p>
            <a:pPr lvl="1"/>
            <a:r>
              <a:rPr lang="en-GB" dirty="0" smtClean="0"/>
              <a:t>Modelling costs of obesity in depth</a:t>
            </a:r>
          </a:p>
          <a:p>
            <a:pPr lvl="1"/>
            <a:r>
              <a:rPr lang="en-GB" dirty="0" smtClean="0"/>
              <a:t>Understanding scope / extent of unhealthy food industry</a:t>
            </a:r>
          </a:p>
          <a:p>
            <a:pPr lvl="1"/>
            <a:r>
              <a:rPr lang="en-GB" dirty="0" smtClean="0"/>
              <a:t>What else other than obesity is the cost of unhealthy food?</a:t>
            </a:r>
          </a:p>
          <a:p>
            <a:pPr lvl="1"/>
            <a:r>
              <a:rPr lang="en-GB" dirty="0" smtClean="0"/>
              <a:t>What are we trying to do?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12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47</TotalTime>
  <Words>808</Words>
  <Application>Microsoft Office PowerPoint</Application>
  <PresentationFormat>On-screen Show (4:3)</PresentationFormat>
  <Paragraphs>134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Adjacency</vt:lpstr>
      <vt:lpstr>w</vt:lpstr>
      <vt:lpstr>Contents</vt:lpstr>
      <vt:lpstr>What counts towards VAT?</vt:lpstr>
      <vt:lpstr>What is Food &amp; Drink Industry</vt:lpstr>
      <vt:lpstr>Headline Economic Figures</vt:lpstr>
      <vt:lpstr>Measuring Tax Recieved</vt:lpstr>
      <vt:lpstr>Measuring Tax Recieved</vt:lpstr>
      <vt:lpstr>Measuring Tax Recieved</vt:lpstr>
      <vt:lpstr>Corporation (Income) Tax</vt:lpstr>
      <vt:lpstr>Measuring Tax Lost</vt:lpstr>
      <vt:lpstr>Obesity - costs</vt:lpstr>
      <vt:lpstr>Obesity – detailed costs</vt:lpstr>
      <vt:lpstr>Fat Tax - Pros</vt:lpstr>
      <vt:lpstr>Fat Tax - Cons</vt:lpstr>
      <vt:lpstr>Summary &amp; moving forwards</vt:lpstr>
    </vt:vector>
  </TitlesOfParts>
  <Company>Daiwa Capital Markets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</dc:title>
  <dc:creator>Faruq, Rafie</dc:creator>
  <cp:lastModifiedBy>Faruq, Rafie</cp:lastModifiedBy>
  <cp:revision>5</cp:revision>
  <dcterms:created xsi:type="dcterms:W3CDTF">2015-03-16T17:11:04Z</dcterms:created>
  <dcterms:modified xsi:type="dcterms:W3CDTF">2015-03-16T17:58:41Z</dcterms:modified>
</cp:coreProperties>
</file>